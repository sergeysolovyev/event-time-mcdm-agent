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26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esesolovev@edu.hse.r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ERC-4626 Yield Vault</a:t>
            </a:r>
            <a:br>
              <a:rPr dirty="0"/>
            </a:br>
            <a:r>
              <a:rPr dirty="0"/>
              <a:t>with MCDM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CCEE"/>
                </a:solidFill>
                <a:latin typeface="Segoe UI"/>
              </a:defRPr>
            </a:pPr>
            <a:r>
              <a:t>Autonomous DeFi Yield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4183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Sergei </a:t>
            </a:r>
            <a:r>
              <a:rPr dirty="0" err="1"/>
              <a:t>Solovev</a:t>
            </a:r>
            <a:r>
              <a:rPr dirty="0"/>
              <a:t/>
            </a:r>
            <a:br>
              <a:rPr dirty="0"/>
            </a:br>
            <a:r>
              <a:rPr dirty="0" smtClean="0">
                <a:hlinkClick r:id="rId2"/>
              </a:rPr>
              <a:t>sesesolovev@edu.hse.ru</a:t>
            </a:r>
            <a:endParaRPr lang="en-US" dirty="0" smtClean="0"/>
          </a:p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rPr lang="en-US" dirty="0" smtClean="0"/>
              <a:t>www.sergeisolovev.com </a:t>
            </a:r>
            <a:r>
              <a:rPr dirty="0"/>
              <a:t/>
            </a:r>
            <a:br>
              <a:rPr dirty="0"/>
            </a:br>
            <a:r>
              <a:rPr lang="en-US" dirty="0" smtClean="0"/>
              <a:t>Vega Institute</a:t>
            </a:r>
            <a:r>
              <a:rPr dirty="0" smtClean="0"/>
              <a:t>  </a:t>
            </a:r>
            <a:r>
              <a:rPr dirty="0"/>
              <a:t>|  April 2026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Project 1: Custom </a:t>
            </a:r>
            <a:r>
              <a:rPr dirty="0" err="1"/>
              <a:t>DeFi</a:t>
            </a:r>
            <a:r>
              <a:rPr dirty="0"/>
              <a:t> Protocol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Segoe UI"/>
              </a:defRPr>
            </a:pPr>
            <a:r>
              <a:t>Why This Project?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  <a:latin typeface="Segoe UI"/>
              </a:defRPr>
            </a:pPr>
            <a:r>
              <a:t>The problem with DeFi yields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Segoe UI"/>
              </a:defRPr>
            </a:pPr>
            <a:r>
              <a:t>Lending protocols like Aave and Compound offer variable interest rates that change every block. Users who want the best yield face three challenges: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A1A2E"/>
                </a:solidFill>
                <a:latin typeface="Segoe UI"/>
              </a:rPr>
              <a:t>  Monitoring</a:t>
            </a:r>
            <a:r>
              <a:rPr sz="1700" b="0">
                <a:solidFill>
                  <a:srgbClr val="1A1A2E"/>
                </a:solidFill>
                <a:latin typeface="Segoe UI"/>
              </a:rPr>
              <a:t> -- rates shift every ~12 seconds, impossible to track manually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1A2E"/>
                </a:solidFill>
                <a:latin typeface="Segoe UI"/>
              </a:rPr>
              <a:t>  Gas costs</a:t>
            </a:r>
            <a:r>
              <a:rPr sz="1700" b="0">
                <a:solidFill>
                  <a:srgbClr val="1A1A2E"/>
                </a:solidFill>
                <a:latin typeface="Segoe UI"/>
              </a:rPr>
              <a:t> -- each rebalance costs $2-50, eating into profits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1A2E"/>
                </a:solidFill>
                <a:latin typeface="Segoe UI"/>
              </a:rPr>
              <a:t>  Risk</a:t>
            </a:r>
            <a:r>
              <a:rPr sz="1700" b="0">
                <a:solidFill>
                  <a:srgbClr val="1A1A2E"/>
                </a:solidFill>
                <a:latin typeface="Segoe UI"/>
              </a:rPr>
              <a:t> -- chasing the highest APY ignores utilization risk and rate stability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  <a:latin typeface="Segoe UI"/>
              </a:defRPr>
            </a:pPr>
            <a:r>
              <a:t>The idea: an autonomous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Segoe UI"/>
              </a:defRPr>
            </a:pPr>
            <a:r>
              <a:t>What if a software agent could watch the rates, evaluate multiple risk factors, and move funds automatically -- while proving every decision cryptographically on-chain?</a:t>
            </a:r>
            <a:br/>
            <a:r>
              <a:t/>
            </a:r>
            <a:br/>
            <a:r>
              <a:t>This is agentic DeFi: an off-chain agent that thinks, and an on-chain vault that verifies and executes.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2 /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Segoe UI"/>
              </a:defRPr>
            </a:pPr>
            <a:r>
              <a:t>User deposits USDC into the vault and receives aiUSDC shares.</a:t>
            </a:r>
            <a:br/>
            <a:r>
              <a:t>From that point, the agent manages everything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3460"/>
                </a:solidFill>
                <a:latin typeface="Consolas"/>
              </a:defRPr>
            </a:pPr>
            <a:r>
              <a:t>+-------------------------------------------------------+</a:t>
            </a:r>
            <a:br/>
            <a:r>
              <a:t>|  Off-chain: Python Agent (runs every hour)             |</a:t>
            </a:r>
            <a:br/>
            <a:r>
              <a:t>|  1. Read APY, utilization, TVL, gas price              |</a:t>
            </a:r>
            <a:br/>
            <a:r>
              <a:t>|  2. Smooth rates with EMA (anti-manipulation)          |</a:t>
            </a:r>
            <a:br/>
            <a:r>
              <a:t>|  3. Score protocols with MCDM (4 factors)              |</a:t>
            </a:r>
            <a:br/>
            <a:r>
              <a:t>|  4. Sign decision with EIP-712 typed data              |</a:t>
            </a:r>
            <a:br/>
            <a:r>
              <a:t>+----------------------------+--------------------------+</a:t>
            </a:r>
            <a:br/>
            <a:r>
              <a:t>                             | signed tx</a:t>
            </a:r>
            <a:br/>
            <a:r>
              <a:t>+----------------------------+--------------------------+</a:t>
            </a:r>
            <a:br/>
            <a:r>
              <a:t>|  On-chain: AIVault.sol (ERC-4626 + UUPS proxy)        |</a:t>
            </a:r>
            <a:br/>
            <a:r>
              <a:t>|  - Verify keeper signature (ECDSA)                     |</a:t>
            </a:r>
            <a:br/>
            <a:r>
              <a:t>|  - Check nonce, timestamp, cooldown                    |</a:t>
            </a:r>
            <a:br/>
            <a:r>
              <a:t>|  - Execute rebalance via adapter                       |</a:t>
            </a:r>
            <a:br/>
            <a:r>
              <a:t>|  +-- AaveV3Adapter    +-- CompoundV3Adapter            |</a:t>
            </a:r>
            <a:br/>
            <a:r>
              <a:t>+-------------------------------------------------------+</a:t>
            </a:r>
            <a:br/>
            <a:r>
              <a:t>  Fallback: Chainlink Automation (if agent offline &gt; 6h)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Segoe UI"/>
              </a:defRPr>
            </a:pPr>
            <a:r>
              <a:t>Key insight: The agent can be complex (multi-factor analysis), but the vault only trusts cryptographic proofs -- not the agent itself.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3 /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Segoe UI"/>
              </a:defRPr>
            </a:pPr>
            <a:r>
              <a:t>Key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3460"/>
                </a:solidFill>
                <a:latin typeface="Segoe UI"/>
              </a:rPr>
              <a:t>ERC-4626 share price </a:t>
            </a:r>
            <a:r>
              <a:rPr sz="1600" b="0">
                <a:solidFill>
                  <a:srgbClr val="1A1A2E"/>
                </a:solidFill>
                <a:latin typeface="Segoe UI"/>
              </a:rPr>
              <a:t>(with inflation attack protection):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Segoe UI"/>
              </a:rPr>
              <a:t>s = floor( a * (S + 10^6) / (A + 1) )</a:t>
            </a:r>
          </a:p>
          <a:p>
            <a:pPr algn="l">
              <a:spcAft>
                <a:spcPts val="400"/>
              </a:spcAft>
            </a:pPr>
            <a:endParaRPr sz="1600" b="0">
              <a:solidFill>
                <a:srgbClr val="1A1A2E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F3460"/>
                </a:solidFill>
                <a:latin typeface="Segoe UI"/>
              </a:rPr>
              <a:t>APY normalization </a:t>
            </a:r>
            <a:r>
              <a:rPr sz="1600" b="0">
                <a:solidFill>
                  <a:srgbClr val="1A1A2E"/>
                </a:solidFill>
                <a:latin typeface="Segoe UI"/>
              </a:rPr>
              <a:t>(cross-protocol, to annual 1e18 scale):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Segoe UI"/>
              </a:rPr>
              <a:t>  Aave V3:  APY = liquidityRate_RAY / 10^9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Segoe UI"/>
              </a:rPr>
              <a:t>  Compound V3:  APY = r_sec x 31,557,600</a:t>
            </a:r>
          </a:p>
          <a:p>
            <a:pPr algn="l">
              <a:spcAft>
                <a:spcPts val="400"/>
              </a:spcAft>
            </a:pPr>
            <a:endParaRPr sz="1600" b="0">
              <a:solidFill>
                <a:srgbClr val="1A1A2E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F3460"/>
                </a:solidFill>
                <a:latin typeface="Segoe UI"/>
              </a:rPr>
              <a:t>EMA smoothing </a:t>
            </a:r>
            <a:r>
              <a:rPr sz="1600" b="0">
                <a:solidFill>
                  <a:srgbClr val="1A1A2E"/>
                </a:solidFill>
                <a:latin typeface="Segoe UI"/>
              </a:rPr>
              <a:t>(dampens noise):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Segoe UI"/>
              </a:rPr>
              <a:t>S_t = 0.3 * R_t + 0.7 * S_(t-1)</a:t>
            </a:r>
          </a:p>
          <a:p>
            <a:pPr algn="l">
              <a:spcAft>
                <a:spcPts val="400"/>
              </a:spcAft>
            </a:pPr>
            <a:endParaRPr sz="1600" b="0">
              <a:solidFill>
                <a:srgbClr val="1A1A2E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F3460"/>
                </a:solidFill>
                <a:latin typeface="Segoe UI"/>
              </a:rPr>
              <a:t>MCDM scoring model: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Segoe UI"/>
              </a:rPr>
              <a:t>Score_i = 0.40*f_APY + 0.25*f_Risk + 0.20*f_Cost + 0.15*f_Stability</a:t>
            </a:r>
          </a:p>
          <a:p>
            <a:pPr algn="l">
              <a:spcAft>
                <a:spcPts val="400"/>
              </a:spcAft>
            </a:pPr>
            <a:endParaRPr sz="1600" b="0">
              <a:solidFill>
                <a:srgbClr val="1A1A2E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  <a:latin typeface="Segoe UI"/>
              </a:rPr>
              <a:t>Rebalance if:  Score_best - Score_current &gt;= 0.05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Segoe UI"/>
              </a:defRPr>
            </a:pPr>
            <a:r>
              <a:t>Example: Aave offers 6% APY but has 95% utilization (risky). Compound offers 5% but with 30% utilization (safe). Simple APY comparison picks Aave. Our MCDM model picks Compound -- the safer choice.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4 /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Segoe UI"/>
              </a:defRPr>
            </a:pPr>
            <a:r>
              <a:t>Security and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3460"/>
                </a:solidFill>
                <a:latin typeface="Segoe UI"/>
              </a:defRPr>
            </a:pPr>
            <a:r>
              <a:t>7 threat mitigations: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5303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Threat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Protection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Inflation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Virtual shares (10^6 offset)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Reentrancy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ReentrancyGuard on all external functions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Rate manipulation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EMA + 5% jump guard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Signature forgery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EIP-712 domain + ECDSA verification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Replay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Sequential nonce + 5-min timestamp TTL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Agent downtime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Chainlink Automation fallback (6h)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Rapid exploitation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1-hour cooldown between rebalances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3460"/>
                </a:solidFill>
                <a:latin typeface="Segoe UI"/>
              </a:defRPr>
            </a:pPr>
            <a:r>
              <a:t>67 tests, 0 failures: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46304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Unit (Solidity)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Concrete + fuzz (1000 runs)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Full lifecycle E2E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Invariant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76,800+ random calls, 0 violations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Python scoring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Pytest unit tests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5 /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Ethereum Sepolia (Chain ID: 11155111). All contracts verified on Sourcify.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Address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AaveV3Adapter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0x8545D79f6FaB51EDc93Cf024fBD1FfAc98504ba1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CompoundV3Adapter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0xEB0D41F07691765314B9A45645Ee995d879c7ac7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StrategyManager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0x353469534dA4FB64d52Ae5059CEFd098557eBFa9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AIVault (proxy)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0x1324238b6F56Ccc785fC7f79Ca693546236Ad02C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3460"/>
                </a:solidFill>
                <a:latin typeface="Segoe UI"/>
              </a:defRPr>
            </a:pPr>
            <a:r>
              <a:t>Tech stack: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Segoe UI"/>
              </a:defRPr>
            </a:pPr>
            <a:r>
              <a:t>Solidity 0.8.24, Python 3.12, Foundry, OpenZeppelin, Chainlink,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3460"/>
                </a:solidFill>
                <a:latin typeface="Segoe UI"/>
              </a:defRPr>
            </a:pPr>
            <a:r>
              <a:t>Design patterns used: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A1A2E"/>
                </a:solidFill>
                <a:latin typeface="Segoe UI"/>
              </a:rPr>
              <a:t>  ERC-4626</a:t>
            </a:r>
            <a:r>
              <a:rPr sz="1700" b="0">
                <a:solidFill>
                  <a:srgbClr val="1A1A2E"/>
                </a:solidFill>
                <a:latin typeface="Segoe UI"/>
              </a:rPr>
              <a:t> (tokenized vault standard)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1A2E"/>
                </a:solidFill>
                <a:latin typeface="Segoe UI"/>
              </a:rPr>
              <a:t>  UUPS proxy</a:t>
            </a:r>
            <a:r>
              <a:rPr sz="1700" b="0">
                <a:solidFill>
                  <a:srgbClr val="1A1A2E"/>
                </a:solidFill>
                <a:latin typeface="Segoe UI"/>
              </a:rPr>
              <a:t> (ERC-1967, upgradeable)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1A2E"/>
                </a:solidFill>
                <a:latin typeface="Segoe UI"/>
              </a:rPr>
              <a:t>  Adapter / Strategy pattern</a:t>
            </a:r>
            <a:r>
              <a:rPr sz="1700" b="0">
                <a:solidFill>
                  <a:srgbClr val="1A1A2E"/>
                </a:solidFill>
                <a:latin typeface="Segoe UI"/>
              </a:rPr>
              <a:t> (extensible to Morpho, Euler, etc.)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1A2E"/>
                </a:solidFill>
                <a:latin typeface="Segoe UI"/>
              </a:rPr>
              <a:t>  EIP-712</a:t>
            </a:r>
            <a:r>
              <a:rPr sz="1700" b="0">
                <a:solidFill>
                  <a:srgbClr val="1A1A2E"/>
                </a:solidFill>
                <a:latin typeface="Segoe UI"/>
              </a:rPr>
              <a:t> (typed data signing for agent decisions)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6 /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AACCEE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GitHub: github.com/SergeySolovyev/ai-yield-vault</a:t>
            </a:r>
            <a:br/>
            <a:r>
              <a:t>Contact: sesesolovev@edu.hse.ru | @Sergey_Solovjov | www.sergeisolovev.com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505</Words>
  <Application>Microsoft Office PowerPoint</Application>
  <PresentationFormat>Широкоэкранный</PresentationFormat>
  <Paragraphs>93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RePack by Diakov</cp:lastModifiedBy>
  <cp:revision>4</cp:revision>
  <dcterms:created xsi:type="dcterms:W3CDTF">2013-01-27T09:14:16Z</dcterms:created>
  <dcterms:modified xsi:type="dcterms:W3CDTF">2026-04-16T13:41:18Z</dcterms:modified>
  <cp:category/>
</cp:coreProperties>
</file>